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600">
                <a:solidFill>
                  <a:srgbClr val="003366"/>
                </a:solidFill>
              </a:rPr>
              <a:t>Lung Cancer Prediction</a:t>
            </a:r>
          </a:p>
          <a:p>
            <a:r>
              <a:rPr b="1" sz="3600">
                <a:solidFill>
                  <a:srgbClr val="003366"/>
                </a:solidFill>
              </a:rPr>
              <a:t>using Machine Learning &amp; 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by: N. Mohammed Sohaib (74)</a:t>
            </a:r>
          </a:p>
          <a:p>
            <a:r>
              <a:t>PBEL NASCOM Internship – AI/ML Project</a:t>
            </a:r>
          </a:p>
          <a:p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3366"/>
                </a:solidFill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800"/>
              <a:t>Predict lung cancer risk from patient health survey data</a:t>
            </a:r>
          </a:p>
          <a:p>
            <a:pPr>
              <a:spcAft>
                <a:spcPts val="600"/>
              </a:spcAft>
            </a:pPr>
            <a:r>
              <a:rPr sz="1800"/>
              <a:t>Compare multiple Machine Learning algorithms for best performance</a:t>
            </a:r>
          </a:p>
          <a:p>
            <a:pPr>
              <a:spcAft>
                <a:spcPts val="600"/>
              </a:spcAft>
            </a:pPr>
            <a:r>
              <a:rPr sz="1800"/>
              <a:t>Build an Artificial Neural Network (ANN) as a Deep Learning model</a:t>
            </a:r>
          </a:p>
          <a:p>
            <a:pPr>
              <a:spcAft>
                <a:spcPts val="600"/>
              </a:spcAft>
            </a:pPr>
            <a:r>
              <a:rPr sz="1800"/>
              <a:t>Identify the most important risk factors for lung cancer</a:t>
            </a:r>
          </a:p>
          <a:p>
            <a:pPr>
              <a:spcAft>
                <a:spcPts val="600"/>
              </a:spcAft>
            </a:pPr>
            <a:r>
              <a:rPr sz="1800"/>
              <a:t>Deploy an interactive Streamlit web app for real-time risk prediction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3366"/>
                </a:solidFill>
              </a:rPr>
              <a:t>Dataset: Lung Cancer Patient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800"/>
              <a:t>1,000 patient records with symptoms, habits, and health indicators</a:t>
            </a:r>
          </a:p>
          <a:p>
            <a:pPr>
              <a:spcAft>
                <a:spcPts val="600"/>
              </a:spcAft>
            </a:pPr>
            <a:r>
              <a:rPr sz="1800"/>
              <a:t>15 Features: Gender, Age, Smoking, Yellow Fingers, Anxiety, etc.</a:t>
            </a:r>
          </a:p>
          <a:p>
            <a:pPr>
              <a:spcAft>
                <a:spcPts val="600"/>
              </a:spcAft>
            </a:pPr>
            <a:r>
              <a:rPr sz="1800"/>
              <a:t>Target: Lung Cancer (YES / NO) — Binary Classification</a:t>
            </a:r>
          </a:p>
          <a:p>
            <a:pPr>
              <a:spcAft>
                <a:spcPts val="600"/>
              </a:spcAft>
            </a:pPr>
            <a:r>
              <a:rPr sz="1800"/>
              <a:t>Balanced dataset: ~48% Cancer, ~52% No Cancer</a:t>
            </a:r>
          </a:p>
          <a:p>
            <a:pPr>
              <a:spcAft>
                <a:spcPts val="600"/>
              </a:spcAft>
            </a:pPr>
            <a:r>
              <a:rPr sz="1800"/>
              <a:t>Features include lifestyle habits, symptoms, and demographic info</a:t>
            </a:r>
          </a:p>
          <a:p>
            <a:pPr>
              <a:spcAft>
                <a:spcPts val="600"/>
              </a:spcAft>
            </a:pPr>
            <a:r>
              <a:rPr sz="1800"/>
              <a:t>Source: Lung cancer patient survey data (CSV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3366"/>
                </a:solidFill>
              </a:rP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800"/>
              <a:t>Step 1: Import Libraries (TensorFlow, Scikit-Learn, Pandas, etc.)</a:t>
            </a:r>
          </a:p>
          <a:p>
            <a:pPr>
              <a:spcAft>
                <a:spcPts val="600"/>
              </a:spcAft>
            </a:pPr>
            <a:r>
              <a:rPr sz="1800"/>
              <a:t>Step 2: Load &amp; Explore Data (EDA) — shape, distributions, statistics</a:t>
            </a:r>
          </a:p>
          <a:p>
            <a:pPr>
              <a:spcAft>
                <a:spcPts val="600"/>
              </a:spcAft>
            </a:pPr>
            <a:r>
              <a:rPr sz="1800"/>
              <a:t>Step 3: Data Preprocessing — Label Encoding, Standard Scaling, Train-Test Split</a:t>
            </a:r>
          </a:p>
          <a:p>
            <a:pPr>
              <a:spcAft>
                <a:spcPts val="600"/>
              </a:spcAft>
            </a:pPr>
            <a:r>
              <a:rPr sz="1800"/>
              <a:t>Step 4: Data Visualization — Correlation Heatmap, Feature Analysis</a:t>
            </a:r>
          </a:p>
          <a:p>
            <a:pPr>
              <a:spcAft>
                <a:spcPts val="600"/>
              </a:spcAft>
            </a:pPr>
            <a:r>
              <a:rPr sz="1800"/>
              <a:t>Step 5: Build 5 ML Models — Logistic Regression, Decision Tree, Random Forest, SVM, KNN</a:t>
            </a:r>
          </a:p>
          <a:p>
            <a:pPr>
              <a:spcAft>
                <a:spcPts val="600"/>
              </a:spcAft>
            </a:pPr>
            <a:r>
              <a:rPr sz="1800"/>
              <a:t>Step 6: Build ANN (Deep Learning) — 3 hidden layers with Dropout</a:t>
            </a:r>
          </a:p>
          <a:p>
            <a:pPr>
              <a:spcAft>
                <a:spcPts val="600"/>
              </a:spcAft>
            </a:pPr>
            <a:r>
              <a:rPr sz="1800"/>
              <a:t>Step 7: Compare All 6 Models — Accuracy &amp; AUC-ROC</a:t>
            </a:r>
          </a:p>
          <a:p>
            <a:pPr>
              <a:spcAft>
                <a:spcPts val="600"/>
              </a:spcAft>
            </a:pPr>
            <a:r>
              <a:rPr sz="1800"/>
              <a:t>Step 8: Save Best Model &amp; Deploy Streamlit 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3366"/>
                </a:solidFill>
              </a:rP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800"/>
              <a:t>Label Encoding: Convert categorical variables to numeric</a:t>
            </a:r>
          </a:p>
          <a:p>
            <a:pPr lvl="1">
              <a:spcAft>
                <a:spcPts val="600"/>
              </a:spcAft>
            </a:pPr>
            <a:r>
              <a:rPr sz="1800"/>
              <a:t>Gender: M→1, F→0  |  Lung Cancer: YES→1, NO→0</a:t>
            </a:r>
          </a:p>
          <a:p>
            <a:pPr>
              <a:spcAft>
                <a:spcPts val="600"/>
              </a:spcAft>
            </a:pPr>
            <a:r>
              <a:rPr sz="1800"/>
              <a:t>Standard Scaling: Normalize features to zero mean, unit variance</a:t>
            </a:r>
          </a:p>
          <a:p>
            <a:pPr lvl="1">
              <a:spcAft>
                <a:spcPts val="600"/>
              </a:spcAft>
            </a:pPr>
            <a:r>
              <a:rPr sz="1800"/>
              <a:t>Critical for SVM, KNN, and Neural Network performance</a:t>
            </a:r>
          </a:p>
          <a:p>
            <a:pPr>
              <a:spcAft>
                <a:spcPts val="600"/>
              </a:spcAft>
            </a:pPr>
            <a:r>
              <a:rPr sz="1800"/>
              <a:t>Train-Test Split: 80% training (800 samples) / 20% testing (200 samples)</a:t>
            </a:r>
          </a:p>
          <a:p>
            <a:pPr lvl="1">
              <a:spcAft>
                <a:spcPts val="600"/>
              </a:spcAft>
            </a:pPr>
            <a:r>
              <a:rPr sz="1800"/>
              <a:t>Stratified split ensures balanced class representation</a:t>
            </a:r>
          </a:p>
          <a:p>
            <a:pPr>
              <a:spcAft>
                <a:spcPts val="600"/>
              </a:spcAft>
            </a:pPr>
            <a:r>
              <a:rPr sz="1800"/>
              <a:t>No missing values — dataset is clean and ready for modeling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3366"/>
                </a:solidFill>
              </a:rP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800"/>
              <a:t>Target Distribution: Balanced with ~48% cancer, ~52% no cancer</a:t>
            </a:r>
          </a:p>
          <a:p>
            <a:pPr>
              <a:spcAft>
                <a:spcPts val="600"/>
              </a:spcAft>
            </a:pPr>
            <a:r>
              <a:rPr sz="1800"/>
              <a:t>Age Distribution: Cancer patients tend to be older (50+ years)</a:t>
            </a:r>
          </a:p>
          <a:p>
            <a:pPr>
              <a:spcAft>
                <a:spcPts val="600"/>
              </a:spcAft>
            </a:pPr>
            <a:r>
              <a:rPr sz="1800"/>
              <a:t>Correlation Heatmap: Shows inter-feature relationships</a:t>
            </a:r>
          </a:p>
          <a:p>
            <a:pPr>
              <a:spcAft>
                <a:spcPts val="600"/>
              </a:spcAft>
            </a:pPr>
            <a:r>
              <a:rPr sz="1800"/>
              <a:t>Top correlated features with lung cancer:</a:t>
            </a:r>
          </a:p>
          <a:p>
            <a:pPr lvl="1">
              <a:spcAft>
                <a:spcPts val="600"/>
              </a:spcAft>
            </a:pPr>
            <a:r>
              <a:rPr sz="1800"/>
              <a:t>Smoking (+0.55), Shortness of Breath (+0.48), Coughing (+0.45)</a:t>
            </a:r>
          </a:p>
          <a:p>
            <a:pPr lvl="1">
              <a:spcAft>
                <a:spcPts val="600"/>
              </a:spcAft>
            </a:pPr>
            <a:r>
              <a:rPr sz="1800"/>
              <a:t>Wheezing (+0.42), Yellow Fingers (+0.38), Age (+0.35)</a:t>
            </a:r>
          </a:p>
          <a:p>
            <a:pPr>
              <a:spcAft>
                <a:spcPts val="600"/>
              </a:spcAft>
            </a:pPr>
            <a:r>
              <a:rPr sz="1800"/>
              <a:t>Smoking has the strongest positive correlation with lung cancer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3366"/>
                </a:solidFill>
              </a:rP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800"/>
              <a:t>Logistic Regression: Linear classifier, good baseline model</a:t>
            </a:r>
          </a:p>
          <a:p>
            <a:pPr>
              <a:spcAft>
                <a:spcPts val="600"/>
              </a:spcAft>
            </a:pPr>
            <a:r>
              <a:rPr sz="1800"/>
              <a:t>Decision Tree: Rule-based classification, interpretable</a:t>
            </a:r>
          </a:p>
          <a:p>
            <a:pPr>
              <a:spcAft>
                <a:spcPts val="600"/>
              </a:spcAft>
            </a:pPr>
            <a:r>
              <a:rPr sz="1800"/>
              <a:t>Random Forest: Ensemble of 100 decision trees, reduces overfitting</a:t>
            </a:r>
          </a:p>
          <a:p>
            <a:pPr>
              <a:spcAft>
                <a:spcPts val="600"/>
              </a:spcAft>
            </a:pPr>
            <a:r>
              <a:rPr sz="1800"/>
              <a:t>Support Vector Machine (SVM): RBF kernel, finds optimal boundary</a:t>
            </a:r>
          </a:p>
          <a:p>
            <a:pPr>
              <a:spcAft>
                <a:spcPts val="600"/>
              </a:spcAft>
            </a:pPr>
            <a:r>
              <a:rPr sz="1800"/>
              <a:t>K-Nearest Neighbors (KNN): Instance-based, k=5 neighbors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800"/>
              <a:t>All models trained on same 80/20 split with scaled features</a:t>
            </a:r>
          </a:p>
          <a:p>
            <a:pPr>
              <a:spcAft>
                <a:spcPts val="600"/>
              </a:spcAft>
            </a:pPr>
            <a:r>
              <a:rPr sz="1800"/>
              <a:t>Evaluated on Accuracy, AUC-ROC, Precision, Recall, F1-Score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3366"/>
                </a:solidFill>
              </a:rPr>
              <a:t>ANN (Deep Learning)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800"/>
              <a:t>Input Layer: 15 features</a:t>
            </a:r>
          </a:p>
          <a:p>
            <a:pPr>
              <a:spcAft>
                <a:spcPts val="600"/>
              </a:spcAft>
            </a:pPr>
            <a:r>
              <a:rPr sz="1800"/>
              <a:t>Hidden Layer 1: Dense(64 neurons, ReLU) + Dropout(0.3)</a:t>
            </a:r>
          </a:p>
          <a:p>
            <a:pPr lvl="1">
              <a:spcAft>
                <a:spcPts val="600"/>
              </a:spcAft>
            </a:pPr>
            <a:r>
              <a:rPr sz="1800"/>
              <a:t>Learns high-level feature combinations</a:t>
            </a:r>
          </a:p>
          <a:p>
            <a:pPr>
              <a:spcAft>
                <a:spcPts val="600"/>
              </a:spcAft>
            </a:pPr>
            <a:r>
              <a:rPr sz="1800"/>
              <a:t>Hidden Layer 2: Dense(32 neurons, ReLU) + Dropout(0.3)</a:t>
            </a:r>
          </a:p>
          <a:p>
            <a:pPr lvl="1">
              <a:spcAft>
                <a:spcPts val="600"/>
              </a:spcAft>
            </a:pPr>
            <a:r>
              <a:rPr sz="1800"/>
              <a:t>Reduces dimensionality, captures patterns</a:t>
            </a:r>
          </a:p>
          <a:p>
            <a:pPr>
              <a:spcAft>
                <a:spcPts val="600"/>
              </a:spcAft>
            </a:pPr>
            <a:r>
              <a:rPr sz="1800"/>
              <a:t>Hidden Layer 3: Dense(16 neurons, ReLU)</a:t>
            </a:r>
          </a:p>
          <a:p>
            <a:pPr>
              <a:spcAft>
                <a:spcPts val="600"/>
              </a:spcAft>
            </a:pPr>
            <a:r>
              <a:rPr sz="1800"/>
              <a:t>Output Layer: Dense(1, Sigmoid) — binary probability output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800"/>
              <a:t>Optimizer: Adam | Loss: Binary Crossentropy</a:t>
            </a:r>
          </a:p>
          <a:p>
            <a:pPr>
              <a:spcAft>
                <a:spcPts val="600"/>
              </a:spcAft>
            </a:pPr>
            <a:r>
              <a:rPr sz="1800"/>
              <a:t>Epochs: 50 | Batch Size: 32 | Validation Split: 20%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3366"/>
                </a:solidFill>
              </a:rPr>
              <a:t>Results &amp; 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800"/>
              <a:t>All 6 models achieved strong performance on lung cancer prediction</a:t>
            </a:r>
          </a:p>
          <a:p>
            <a:pPr>
              <a:spcAft>
                <a:spcPts val="600"/>
              </a:spcAft>
            </a:pPr>
            <a:r>
              <a:rPr sz="1800"/>
              <a:t>Model accuracy range: ~85% — ~93% across all models</a:t>
            </a:r>
          </a:p>
          <a:p>
            <a:pPr>
              <a:spcAft>
                <a:spcPts val="600"/>
              </a:spcAft>
            </a:pPr>
            <a:r>
              <a:rPr sz="1800"/>
              <a:t>Random Forest: Best overall ML model (high accuracy + AUC)</a:t>
            </a:r>
          </a:p>
          <a:p>
            <a:pPr>
              <a:spcAft>
                <a:spcPts val="600"/>
              </a:spcAft>
            </a:pPr>
            <a:r>
              <a:rPr sz="1800"/>
              <a:t>ANN: Competitive deep learning performance with training curves showing convergence</a:t>
            </a:r>
          </a:p>
          <a:p>
            <a:pPr>
              <a:spcAft>
                <a:spcPts val="600"/>
              </a:spcAft>
            </a:pPr>
            <a:r>
              <a:rPr sz="1800"/>
              <a:t>ROC curves show all models significantly outperform random baseline</a:t>
            </a:r>
          </a:p>
          <a:p>
            <a:pPr>
              <a:spcAft>
                <a:spcPts val="600"/>
              </a:spcAft>
            </a:pPr>
            <a:r>
              <a:rPr sz="1800"/>
              <a:t>Feature Importance: Smoking, Age, Shortness of Breath are top predictors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3366"/>
                </a:solidFill>
              </a:rPr>
              <a:t>Streamlit Web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800"/>
              <a:t>Interactive web GUI for the lung cancer prediction system</a:t>
            </a:r>
          </a:p>
          <a:p>
            <a:pPr>
              <a:spcAft>
                <a:spcPts val="600"/>
              </a:spcAft>
            </a:pPr>
            <a:r>
              <a:rPr sz="1800"/>
              <a:t>📊 Dataset Explorer: Browse data, view distributions &amp; correlations</a:t>
            </a:r>
          </a:p>
          <a:p>
            <a:pPr>
              <a:spcAft>
                <a:spcPts val="600"/>
              </a:spcAft>
            </a:pPr>
            <a:r>
              <a:rPr sz="1800"/>
              <a:t>🧠 Train Models: Train all 6 models with configurable ANN epochs</a:t>
            </a:r>
          </a:p>
          <a:p>
            <a:pPr>
              <a:spcAft>
                <a:spcPts val="600"/>
              </a:spcAft>
            </a:pPr>
            <a:r>
              <a:rPr sz="1800"/>
              <a:t>🔍 Predict New Patient: Enter symptoms → get real-time risk prediction</a:t>
            </a:r>
          </a:p>
          <a:p>
            <a:pPr lvl="1">
              <a:spcAft>
                <a:spcPts val="600"/>
              </a:spcAft>
            </a:pPr>
            <a:r>
              <a:rPr sz="1800"/>
              <a:t>Shows probability scores, risk factors, and visual assessment</a:t>
            </a:r>
          </a:p>
          <a:p>
            <a:pPr>
              <a:spcAft>
                <a:spcPts val="600"/>
              </a:spcAft>
            </a:pPr>
            <a:r>
              <a:rPr sz="1800"/>
              <a:t>📈 Model Evaluation: Compare accuracy, AUC, training curves, feature importance</a:t>
            </a:r>
          </a:p>
          <a:p>
            <a:pPr>
              <a:spcAft>
                <a:spcPts val="600"/>
              </a:spcAft>
            </a:pPr>
            <a:r>
              <a:rPr sz="1800"/>
              <a:t>Run command: streamlit run streamlit_app.py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3366"/>
                </a:solidFill>
              </a:rPr>
              <a:t>Key AI/ML/DL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800"/>
              <a:t>Supervised Learning: Classification with labeled data</a:t>
            </a:r>
          </a:p>
          <a:p>
            <a:pPr>
              <a:spcAft>
                <a:spcPts val="600"/>
              </a:spcAft>
            </a:pPr>
            <a:r>
              <a:rPr sz="1800"/>
              <a:t>Ensemble Learning: Random Forest combines multiple decision trees</a:t>
            </a:r>
          </a:p>
          <a:p>
            <a:pPr>
              <a:spcAft>
                <a:spcPts val="600"/>
              </a:spcAft>
            </a:pPr>
            <a:r>
              <a:rPr sz="1800"/>
              <a:t>Artificial Neural Network (ANN): Deep learning for tabular data</a:t>
            </a:r>
          </a:p>
          <a:p>
            <a:pPr>
              <a:spcAft>
                <a:spcPts val="600"/>
              </a:spcAft>
            </a:pPr>
            <a:r>
              <a:rPr sz="1800"/>
              <a:t>Dropout Regularization: Prevents overfitting in neural networks</a:t>
            </a:r>
          </a:p>
          <a:p>
            <a:pPr>
              <a:spcAft>
                <a:spcPts val="600"/>
              </a:spcAft>
            </a:pPr>
            <a:r>
              <a:rPr sz="1800"/>
              <a:t>Standard Scaling: Feature normalization for distance-based models</a:t>
            </a:r>
          </a:p>
          <a:p>
            <a:pPr>
              <a:spcAft>
                <a:spcPts val="600"/>
              </a:spcAft>
            </a:pPr>
            <a:r>
              <a:rPr sz="1800"/>
              <a:t>AUC-ROC: Area Under Curve for binary classification evaluation</a:t>
            </a:r>
          </a:p>
          <a:p>
            <a:pPr>
              <a:spcAft>
                <a:spcPts val="600"/>
              </a:spcAft>
            </a:pPr>
            <a:r>
              <a:rPr sz="1800"/>
              <a:t>Feature Importance: Identifies which features matter most</a:t>
            </a:r>
          </a:p>
          <a:p>
            <a:pPr>
              <a:spcAft>
                <a:spcPts val="600"/>
              </a:spcAft>
            </a:pPr>
            <a:r>
              <a:rPr sz="1800"/>
              <a:t>Label Encoding: Converts categorical data to numeric representation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3366"/>
                </a:solidFill>
              </a:rPr>
              <a:t>Technologies &amp;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800"/>
              <a:t>Python 3.x — Programming Language</a:t>
            </a:r>
          </a:p>
          <a:p>
            <a:pPr>
              <a:spcAft>
                <a:spcPts val="600"/>
              </a:spcAft>
            </a:pPr>
            <a:r>
              <a:rPr sz="1800"/>
              <a:t>TensorFlow / Keras — Deep Learning (ANN Model)</a:t>
            </a:r>
          </a:p>
          <a:p>
            <a:pPr>
              <a:spcAft>
                <a:spcPts val="600"/>
              </a:spcAft>
            </a:pPr>
            <a:r>
              <a:rPr sz="1800"/>
              <a:t>Scikit-Learn — ML Models, Preprocessing, Evaluation</a:t>
            </a:r>
          </a:p>
          <a:p>
            <a:pPr>
              <a:spcAft>
                <a:spcPts val="600"/>
              </a:spcAft>
            </a:pPr>
            <a:r>
              <a:rPr sz="1800"/>
              <a:t>Pandas &amp; NumPy — Data Manipulation &amp; Analysis</a:t>
            </a:r>
          </a:p>
          <a:p>
            <a:pPr>
              <a:spcAft>
                <a:spcPts val="600"/>
              </a:spcAft>
            </a:pPr>
            <a:r>
              <a:rPr sz="1800"/>
              <a:t>Matplotlib &amp; Seaborn — Data Visualization</a:t>
            </a:r>
          </a:p>
          <a:p>
            <a:pPr>
              <a:spcAft>
                <a:spcPts val="600"/>
              </a:spcAft>
            </a:pPr>
            <a:r>
              <a:rPr sz="1800"/>
              <a:t>Streamlit — Interactive Web Application</a:t>
            </a:r>
          </a:p>
          <a:p>
            <a:pPr>
              <a:spcAft>
                <a:spcPts val="600"/>
              </a:spcAft>
            </a:pPr>
            <a:r>
              <a:rPr sz="1800"/>
              <a:t>Jupyter Notebook — Development &amp; Documentation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3366"/>
                </a:solidFill>
              </a:rP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800"/>
              <a:t>Successfully built 6 models (5 ML + 1 DL) for lung cancer risk prediction</a:t>
            </a:r>
          </a:p>
          <a:p>
            <a:pPr>
              <a:spcAft>
                <a:spcPts val="600"/>
              </a:spcAft>
            </a:pPr>
            <a:r>
              <a:rPr sz="1800"/>
              <a:t>Identified key risk factors: Smoking, Age, Respiratory Symptoms</a:t>
            </a:r>
          </a:p>
          <a:p>
            <a:pPr>
              <a:spcAft>
                <a:spcPts val="600"/>
              </a:spcAft>
            </a:pPr>
            <a:r>
              <a:rPr sz="1800"/>
              <a:t>Deployed an interactive Streamlit app for real-time patient risk assessment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800"/>
              <a:t>Future Improvements:</a:t>
            </a:r>
          </a:p>
          <a:p>
            <a:pPr lvl="1">
              <a:spcAft>
                <a:spcPts val="600"/>
              </a:spcAft>
            </a:pPr>
            <a:r>
              <a:rPr sz="1800"/>
              <a:t>Integrate medical imaging (CT scans) with CNN for image-based detection</a:t>
            </a:r>
          </a:p>
          <a:p>
            <a:pPr lvl="1">
              <a:spcAft>
                <a:spcPts val="600"/>
              </a:spcAft>
            </a:pPr>
            <a:r>
              <a:rPr sz="1800"/>
              <a:t>Use larger clinical datasets for improved generalization</a:t>
            </a:r>
          </a:p>
          <a:p>
            <a:pPr lvl="1">
              <a:spcAft>
                <a:spcPts val="600"/>
              </a:spcAft>
            </a:pPr>
            <a:r>
              <a:rPr sz="1800"/>
              <a:t>Add SHAP/LIME for model explainability</a:t>
            </a:r>
          </a:p>
          <a:p>
            <a:pPr lvl="1">
              <a:spcAft>
                <a:spcPts val="600"/>
              </a:spcAft>
            </a:pPr>
            <a:r>
              <a:rPr sz="1800"/>
              <a:t>Deploy as a REST API for hospital integration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600">
                <a:solidFill>
                  <a:srgbClr val="003366"/>
                </a:solidFill>
              </a:rP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by: N. Mohammed Sohaib (74)</a:t>
            </a:r>
          </a:p>
          <a:p>
            <a:r>
              <a:t>PBEL NASCOM Internship</a:t>
            </a:r>
          </a:p>
          <a:p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